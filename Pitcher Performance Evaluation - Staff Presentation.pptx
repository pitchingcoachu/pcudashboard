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29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0927080" cy="5715000"/>
          </a:xfrm>
          <a:prstGeom prst="rect">
            <a:avLst/>
          </a:prstGeom>
          <a:solidFill>
            <a:srgbClr val="25292D">
              <a:alpha val="0"/>
            </a:srgbClr>
          </a:solidFill>
          <a:ln w="15240">
            <a:solidFill>
              <a:srgbClr val="6B74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24528" y="3163824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EA9A2"/>
                </a:solidFill>
              </a:rPr>
              <a:t>PHOTO PLACEHOLDER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4480560"/>
            <a:ext cx="12191695" cy="2377440"/>
          </a:xfrm>
          <a:prstGeom prst="rect">
            <a:avLst/>
          </a:prstGeom>
          <a:solidFill>
            <a:srgbClr val="25292D">
              <a:alpha val="91000"/>
            </a:srgbClr>
          </a:solidFill>
          <a:ln w="12700">
            <a:solidFill>
              <a:srgbClr val="25292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470916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How to Evaluate a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Pitcher's Performance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777240" y="5971032"/>
            <a:ext cx="1920240" cy="73152"/>
          </a:xfrm>
          <a:prstGeom prst="rect">
            <a:avLst/>
          </a:prstGeom>
          <a:solidFill>
            <a:srgbClr val="D89A2B"/>
          </a:solidFill>
          <a:ln w="12700">
            <a:solidFill>
              <a:srgbClr val="D89A2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25292D"/>
          </a:solidFill>
          <a:ln w="12700">
            <a:solidFill>
              <a:srgbClr val="2529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67512"/>
            <a:ext cx="10789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3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225296"/>
            <a:ext cx="11018520" cy="0"/>
          </a:xfrm>
          <a:prstGeom prst="line">
            <a:avLst/>
          </a:prstGeom>
          <a:noFill/>
          <a:ln w="12700">
            <a:solidFill>
              <a:srgbClr val="D8DE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28832" y="644652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C6670"/>
                </a:solidFill>
              </a:rPr>
              <a:t>02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49808" y="1737360"/>
            <a:ext cx="32461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D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737360"/>
            <a:ext cx="73152" cy="3520440"/>
          </a:xfrm>
          <a:prstGeom prst="rect">
            <a:avLst/>
          </a:prstGeom>
          <a:solidFill>
            <a:srgbClr val="286B4B"/>
          </a:solidFill>
          <a:ln w="12700">
            <a:solidFill>
              <a:srgbClr val="286B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956816"/>
            <a:ext cx="2770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252B"/>
                </a:solidFill>
              </a:rPr>
              <a:t>K%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87552" y="2450592"/>
            <a:ext cx="277063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C6670"/>
                </a:solidFill>
              </a:rPr>
              <a:t>Generate swing and miss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471416" y="1737360"/>
            <a:ext cx="32461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D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71416" y="1737360"/>
            <a:ext cx="73152" cy="3520440"/>
          </a:xfrm>
          <a:prstGeom prst="rect">
            <a:avLst/>
          </a:prstGeom>
          <a:solidFill>
            <a:srgbClr val="D89A2B"/>
          </a:solidFill>
          <a:ln w="12700">
            <a:solidFill>
              <a:srgbClr val="D89A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956816"/>
            <a:ext cx="2770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252B"/>
                </a:solidFill>
              </a:rPr>
              <a:t>BB%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09160" y="2450592"/>
            <a:ext cx="277063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C6670"/>
                </a:solidFill>
              </a:rPr>
              <a:t>Limit free bases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193024" y="1737360"/>
            <a:ext cx="32461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D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93024" y="1737360"/>
            <a:ext cx="73152" cy="3520440"/>
          </a:xfrm>
          <a:prstGeom prst="rect">
            <a:avLst/>
          </a:prstGeom>
          <a:solidFill>
            <a:srgbClr val="B84A3D"/>
          </a:solidFill>
          <a:ln w="12700">
            <a:solidFill>
              <a:srgbClr val="B84A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30768" y="1956816"/>
            <a:ext cx="2770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252B"/>
                </a:solidFill>
              </a:rPr>
              <a:t>Barrel%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30768" y="2450592"/>
            <a:ext cx="277063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C6670"/>
                </a:solidFill>
              </a:rPr>
              <a:t>Limit damage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25292D"/>
          </a:solidFill>
          <a:ln w="12700">
            <a:solidFill>
              <a:srgbClr val="2529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67512"/>
            <a:ext cx="10789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Use Rates Instead of /9?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225296"/>
            <a:ext cx="11018520" cy="0"/>
          </a:xfrm>
          <a:prstGeom prst="line">
            <a:avLst/>
          </a:prstGeom>
          <a:noFill/>
          <a:ln w="12700">
            <a:solidFill>
              <a:srgbClr val="D8DE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28832" y="644652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C6670"/>
                </a:solidFill>
              </a:rPr>
              <a:t>03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" y="16916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252B"/>
                </a:solidFill>
              </a:rPr>
              <a:t>Rates tell us more accurately how a pitcher performs per batter they face.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822960" y="2743200"/>
            <a:ext cx="49377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30723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6B4B"/>
                </a:solidFill>
              </a:rPr>
              <a:t>Pitcher 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35661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52B"/>
                </a:solidFill>
              </a:rPr>
              <a:t>2 strikeouts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1F252B"/>
                </a:solidFill>
              </a:rPr>
              <a:t>3 batters faced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428232" y="2743200"/>
            <a:ext cx="49377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48272" y="30723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9A2B"/>
                </a:solidFill>
              </a:rPr>
              <a:t>Pitcher 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48272" y="35661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52B"/>
                </a:solidFill>
              </a:rPr>
              <a:t>2 strikeouts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1F252B"/>
                </a:solidFill>
              </a:rPr>
              <a:t>5 batters faced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965960" y="5577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C6670"/>
                </a:solidFill>
              </a:rPr>
              <a:t>Same inning total. Different performance per opportunity.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25292D"/>
          </a:solidFill>
          <a:ln w="12700">
            <a:solidFill>
              <a:srgbClr val="2529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67512"/>
            <a:ext cx="10789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K%, BB%, Barrel%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225296"/>
            <a:ext cx="11018520" cy="0"/>
          </a:xfrm>
          <a:prstGeom prst="line">
            <a:avLst/>
          </a:prstGeom>
          <a:noFill/>
          <a:ln w="12700">
            <a:solidFill>
              <a:srgbClr val="D8DE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28832" y="644652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C6670"/>
                </a:solidFill>
              </a:rPr>
              <a:t>04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77240" y="1691640"/>
            <a:ext cx="333756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D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691640"/>
            <a:ext cx="3337560" cy="658368"/>
          </a:xfrm>
          <a:prstGeom prst="rect">
            <a:avLst/>
          </a:prstGeom>
          <a:solidFill>
            <a:srgbClr val="286B4B"/>
          </a:solidFill>
          <a:ln w="12700">
            <a:solidFill>
              <a:srgbClr val="286B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89280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K%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2880360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6670"/>
                </a:solidFill>
              </a:rPr>
              <a:t>MLB Average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3182112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252B"/>
                </a:solidFill>
              </a:rPr>
              <a:t>22.5%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1344168" y="3913632"/>
            <a:ext cx="2194560" cy="0"/>
          </a:xfrm>
          <a:prstGeom prst="line">
            <a:avLst/>
          </a:prstGeom>
          <a:noFill/>
          <a:ln w="12700">
            <a:solidFill>
              <a:srgbClr val="D8DE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4206240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6670"/>
                </a:solidFill>
              </a:rPr>
              <a:t>College Average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4507992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86B4B"/>
                </a:solidFill>
              </a:rPr>
              <a:t>20%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4425696" y="1691640"/>
            <a:ext cx="333756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D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25696" y="1691640"/>
            <a:ext cx="3337560" cy="658368"/>
          </a:xfrm>
          <a:prstGeom prst="rect">
            <a:avLst/>
          </a:prstGeom>
          <a:solidFill>
            <a:srgbClr val="D89A2B"/>
          </a:solidFill>
          <a:ln w="12700">
            <a:solidFill>
              <a:srgbClr val="D89A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25696" y="189280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BB%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745736" y="2880360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6670"/>
                </a:solidFill>
              </a:rPr>
              <a:t>MLB Average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45736" y="3182112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252B"/>
                </a:solidFill>
              </a:rPr>
              <a:t>8.7%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4992624" y="3913632"/>
            <a:ext cx="2194560" cy="0"/>
          </a:xfrm>
          <a:prstGeom prst="line">
            <a:avLst/>
          </a:prstGeom>
          <a:noFill/>
          <a:ln w="12700">
            <a:solidFill>
              <a:srgbClr val="D8DE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45736" y="4206240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6670"/>
                </a:solidFill>
              </a:rPr>
              <a:t>College Average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45736" y="4507992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89A2B"/>
                </a:solidFill>
              </a:rPr>
              <a:t>11%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8074152" y="1691640"/>
            <a:ext cx="333756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D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74152" y="1691640"/>
            <a:ext cx="3337560" cy="658368"/>
          </a:xfrm>
          <a:prstGeom prst="rect">
            <a:avLst/>
          </a:prstGeom>
          <a:solidFill>
            <a:srgbClr val="B84A3D"/>
          </a:solidFill>
          <a:ln w="12700">
            <a:solidFill>
              <a:srgbClr val="B84A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74152" y="189280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Barrel%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394192" y="2880360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6670"/>
                </a:solidFill>
              </a:rPr>
              <a:t>MLB Average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394192" y="3182112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252B"/>
                </a:solidFill>
              </a:rPr>
              <a:t>18%</a:t>
            </a:r>
            <a:endParaRPr lang="en-US" sz="3000" dirty="0"/>
          </a:p>
        </p:txBody>
      </p:sp>
      <p:sp>
        <p:nvSpPr>
          <p:cNvPr id="27" name="Shape 25"/>
          <p:cNvSpPr/>
          <p:nvPr/>
        </p:nvSpPr>
        <p:spPr>
          <a:xfrm>
            <a:off x="8641080" y="3913632"/>
            <a:ext cx="2194560" cy="0"/>
          </a:xfrm>
          <a:prstGeom prst="line">
            <a:avLst/>
          </a:prstGeom>
          <a:noFill/>
          <a:ln w="12700">
            <a:solidFill>
              <a:srgbClr val="D8DED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94192" y="4206240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6670"/>
                </a:solidFill>
              </a:rPr>
              <a:t>College Average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394192" y="4507992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84A3D"/>
                </a:solidFill>
              </a:rPr>
              <a:t>17%</a:t>
            </a:r>
            <a:endParaRPr lang="en-US" sz="3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25292D"/>
          </a:solidFill>
          <a:ln w="12700">
            <a:solidFill>
              <a:srgbClr val="2529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67512"/>
            <a:ext cx="10789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225296"/>
            <a:ext cx="11018520" cy="0"/>
          </a:xfrm>
          <a:prstGeom prst="line">
            <a:avLst/>
          </a:prstGeom>
          <a:noFill/>
          <a:ln w="12700">
            <a:solidFill>
              <a:srgbClr val="D8DE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28832" y="644652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C6670"/>
                </a:solidFill>
              </a:rPr>
              <a:t>05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673352" y="1508760"/>
            <a:ext cx="1234440" cy="502920"/>
          </a:xfrm>
          <a:prstGeom prst="roundRect">
            <a:avLst>
              <a:gd name="adj" fmla="val 14545"/>
            </a:avLst>
          </a:prstGeom>
          <a:solidFill>
            <a:srgbClr val="286B4B"/>
          </a:solidFill>
          <a:ln w="12700">
            <a:solidFill>
              <a:srgbClr val="286B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28216" y="1677924"/>
            <a:ext cx="11247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K%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41832" y="2606040"/>
            <a:ext cx="1078992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6696" y="2724912"/>
            <a:ext cx="969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52B"/>
                </a:solidFill>
              </a:rPr>
              <a:t>RHH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97480" y="2606040"/>
            <a:ext cx="1078992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52344" y="2724912"/>
            <a:ext cx="969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52B"/>
                </a:solidFill>
              </a:rPr>
              <a:t>LHH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0" y="2011680"/>
            <a:ext cx="-804672" cy="594360"/>
          </a:xfrm>
          <a:prstGeom prst="line">
            <a:avLst/>
          </a:prstGeom>
          <a:noFill/>
          <a:ln w="14605">
            <a:solidFill>
              <a:srgbClr val="286B4B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286000" y="2011680"/>
            <a:ext cx="950976" cy="594360"/>
          </a:xfrm>
          <a:prstGeom prst="line">
            <a:avLst/>
          </a:prstGeom>
          <a:noFill/>
          <a:ln w="14605">
            <a:solidFill>
              <a:srgbClr val="286B4B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033272" y="3703320"/>
            <a:ext cx="27432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88136" y="4041648"/>
            <a:ext cx="2633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52B"/>
                </a:solidFill>
              </a:rPr>
              <a:t>Whiff%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F252B"/>
                </a:solidFill>
              </a:rPr>
              <a:t>CSW%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F252B"/>
                </a:solidFill>
              </a:rPr>
              <a:t>Stuff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481328" y="3008376"/>
            <a:ext cx="310896" cy="694944"/>
          </a:xfrm>
          <a:prstGeom prst="line">
            <a:avLst/>
          </a:prstGeom>
          <a:noFill/>
          <a:ln w="14605">
            <a:solidFill>
              <a:srgbClr val="D8DED2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236976" y="3008376"/>
            <a:ext cx="-256032" cy="694944"/>
          </a:xfrm>
          <a:prstGeom prst="line">
            <a:avLst/>
          </a:prstGeom>
          <a:noFill/>
          <a:ln w="14605">
            <a:solidFill>
              <a:srgbClr val="D8DED2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202936" y="1508760"/>
            <a:ext cx="1234440" cy="502920"/>
          </a:xfrm>
          <a:prstGeom prst="roundRect">
            <a:avLst>
              <a:gd name="adj" fmla="val 14545"/>
            </a:avLst>
          </a:prstGeom>
          <a:solidFill>
            <a:srgbClr val="D89A2B"/>
          </a:solidFill>
          <a:ln w="12700">
            <a:solidFill>
              <a:srgbClr val="D89A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57800" y="1677924"/>
            <a:ext cx="11247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BB%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471416" y="2606040"/>
            <a:ext cx="1078992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6280" y="2724912"/>
            <a:ext cx="969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52B"/>
                </a:solidFill>
              </a:rPr>
              <a:t>RHH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27064" y="2606040"/>
            <a:ext cx="1078992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81928" y="2724912"/>
            <a:ext cx="969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52B"/>
                </a:solidFill>
              </a:rPr>
              <a:t>LHH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815584" y="2011680"/>
            <a:ext cx="-804672" cy="594360"/>
          </a:xfrm>
          <a:prstGeom prst="line">
            <a:avLst/>
          </a:prstGeom>
          <a:noFill/>
          <a:ln w="14605">
            <a:solidFill>
              <a:srgbClr val="D89A2B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815584" y="2011680"/>
            <a:ext cx="950976" cy="594360"/>
          </a:xfrm>
          <a:prstGeom prst="line">
            <a:avLst/>
          </a:prstGeom>
          <a:noFill/>
          <a:ln w="14605">
            <a:solidFill>
              <a:srgbClr val="D89A2B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562856" y="3703320"/>
            <a:ext cx="27432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4041648"/>
            <a:ext cx="2633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52B"/>
                </a:solidFill>
              </a:rPr>
              <a:t>InZone%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F252B"/>
                </a:solidFill>
              </a:rPr>
              <a:t>Strike%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F252B"/>
                </a:solidFill>
              </a:rPr>
              <a:t>FPS%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F252B"/>
                </a:solidFill>
              </a:rPr>
              <a:t>E+A%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10912" y="3008376"/>
            <a:ext cx="310896" cy="694944"/>
          </a:xfrm>
          <a:prstGeom prst="line">
            <a:avLst/>
          </a:prstGeom>
          <a:noFill/>
          <a:ln w="14605">
            <a:solidFill>
              <a:srgbClr val="D8DED2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766560" y="3008376"/>
            <a:ext cx="-256032" cy="694944"/>
          </a:xfrm>
          <a:prstGeom prst="line">
            <a:avLst/>
          </a:prstGeom>
          <a:noFill/>
          <a:ln w="14605">
            <a:solidFill>
              <a:srgbClr val="D8DED2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732520" y="1508760"/>
            <a:ext cx="1234440" cy="502920"/>
          </a:xfrm>
          <a:prstGeom prst="roundRect">
            <a:avLst>
              <a:gd name="adj" fmla="val 14545"/>
            </a:avLst>
          </a:prstGeom>
          <a:solidFill>
            <a:srgbClr val="B84A3D"/>
          </a:solidFill>
          <a:ln w="12700">
            <a:solidFill>
              <a:srgbClr val="B84A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87384" y="1677924"/>
            <a:ext cx="11247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Barrel%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8001000" y="2606040"/>
            <a:ext cx="1078992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55864" y="2724912"/>
            <a:ext cx="969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52B"/>
                </a:solidFill>
              </a:rPr>
              <a:t>RHH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756648" y="2606040"/>
            <a:ext cx="1078992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811512" y="2724912"/>
            <a:ext cx="969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52B"/>
                </a:solidFill>
              </a:rPr>
              <a:t>LHH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345168" y="2011680"/>
            <a:ext cx="-804672" cy="594360"/>
          </a:xfrm>
          <a:prstGeom prst="line">
            <a:avLst/>
          </a:prstGeom>
          <a:noFill/>
          <a:ln w="14605">
            <a:solidFill>
              <a:srgbClr val="B84A3D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345168" y="2011680"/>
            <a:ext cx="950976" cy="594360"/>
          </a:xfrm>
          <a:prstGeom prst="line">
            <a:avLst/>
          </a:prstGeom>
          <a:noFill/>
          <a:ln w="14605">
            <a:solidFill>
              <a:srgbClr val="B84A3D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8092440" y="3703320"/>
            <a:ext cx="27432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47304" y="4041648"/>
            <a:ext cx="2633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52B"/>
                </a:solidFill>
              </a:rPr>
              <a:t>Location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F252B"/>
                </a:solidFill>
              </a:rPr>
              <a:t>GB%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540496" y="3008376"/>
            <a:ext cx="310896" cy="694944"/>
          </a:xfrm>
          <a:prstGeom prst="line">
            <a:avLst/>
          </a:prstGeom>
          <a:noFill/>
          <a:ln w="14605">
            <a:solidFill>
              <a:srgbClr val="D8DED2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10296144" y="3008376"/>
            <a:ext cx="-256032" cy="694944"/>
          </a:xfrm>
          <a:prstGeom prst="line">
            <a:avLst/>
          </a:prstGeom>
          <a:noFill/>
          <a:ln w="14605">
            <a:solidFill>
              <a:srgbClr val="D8DED2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2148840" y="4846320"/>
            <a:ext cx="7955280" cy="0"/>
          </a:xfrm>
          <a:prstGeom prst="line">
            <a:avLst/>
          </a:prstGeom>
          <a:noFill/>
          <a:ln w="15240">
            <a:solidFill>
              <a:srgbClr val="D8DED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404872" y="4544568"/>
            <a:ext cx="3694176" cy="1170432"/>
          </a:xfrm>
          <a:prstGeom prst="line">
            <a:avLst/>
          </a:prstGeom>
          <a:noFill/>
          <a:ln w="14605">
            <a:solidFill>
              <a:srgbClr val="D8DED2"/>
            </a:solidFill>
            <a:prstDash val="solid"/>
            <a:headEnd type="non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5934456" y="4544568"/>
            <a:ext cx="164592" cy="1170432"/>
          </a:xfrm>
          <a:prstGeom prst="line">
            <a:avLst/>
          </a:prstGeom>
          <a:noFill/>
          <a:ln w="14605">
            <a:solidFill>
              <a:srgbClr val="D8DED2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9464040" y="4544568"/>
            <a:ext cx="-3364992" cy="1170432"/>
          </a:xfrm>
          <a:prstGeom prst="line">
            <a:avLst/>
          </a:prstGeom>
          <a:noFill/>
          <a:ln w="14605">
            <a:solidFill>
              <a:srgbClr val="D8DED2"/>
            </a:solidFill>
            <a:prstDash val="solid"/>
            <a:headEnd type="none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4800600" y="571500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25292D"/>
          </a:solidFill>
          <a:ln w="12700">
            <a:solidFill>
              <a:srgbClr val="25292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55464" y="5884164"/>
            <a:ext cx="2496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Pitch Usage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1097280" y="6309360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C6670"/>
                </a:solidFill>
              </a:rPr>
              <a:t>Determine the weak link by batter handedness, then check whether pitch usage supports or explains the result.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Pitching Coach 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Evaluate a Pitcher's Performance</dc:title>
  <dc:subject>How to evaluate a pitcher's performance</dc:subject>
  <dc:creator>Pitching Coach U</dc:creator>
  <cp:lastModifiedBy>Pitching Coach U</cp:lastModifiedBy>
  <cp:revision>1</cp:revision>
  <dcterms:created xsi:type="dcterms:W3CDTF">2026-07-21T06:32:46Z</dcterms:created>
  <dcterms:modified xsi:type="dcterms:W3CDTF">2026-07-21T06:32:46Z</dcterms:modified>
</cp:coreProperties>
</file>